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Shortly is a FastAPI URL shortener. The browser reaches the API through nginx Ingress and a Kubernetes Service. Two or more stateless API pods share link state through Redis. Redis writes to a persistent volume. Prometheus scrapes application metrics, while Grafana and Alertmanager show and evaluate them. GitHub Actions builds and checks each release, and a self-hosted runner deploys to the local Minikube cluster. The team members and roll numbers come from the project report notes.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workflow runs lint and tests on GitHub hosted runners, builds a container, scans it with Trivy and creates an SBOM, then publishes it to GHCR. The self-hosted job checks its cluster context and verifies the published image digest before deploying. It then waits for rollout probes and checks smoke requests and the version. The screenshot shows a successful workflow run lasting 1 minute 58 seconds. The failure branch automatically rolls back, while the workflow remains red so the release failure is visible.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dashboard presents pod count, availability, request rate, 5xx rate, p95 latency and Redis health. The baseline run recorded 3,753 requests, zero unexpected failures and an 8 ms client p95. Separate captured Grafana views show the latency fault rising above the configured threshold and the 5xx rate increasing during the error scenario. The scenario summary records that both alerts fired and later recovered. These are saved screenshots and report values, not a live rerun during deck preparation.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bad-release-errors scenario demonstrated a gap between pod readiness and correct application behavior. Readiness remained green while normal redirects and other smoke requests failed. The workflow ran its rollback helper, restored revision 58 and returned a failed status. The pods screenshot shows the stable app and Redis state after recovery. Ansible's positive results come from the disposable Ubuntu 24.04 container: the first apply changed 31 items, and the second changed zero. The Mac host was rejected by the playbook before changes.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learning is that a healthy process does not guarantee a healthy user request. The pipeline now verifies the exact image after deploy and automatically undoes a release when checks fail. Observed load results and alert behavior informed resource and monitoring choices. The saved full scenario run passed eight of nine tests; a focused abuse rerun passed afterward, but the full suite was not rerun. The project uses a single-node local Minikube cluster, one Redis replica, a null Alertmanager receiver, and a local self-hosted runner. Future work is to repeat this on a multi-node cluster, route alerts to a real receiver and isolate the runner.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75488" y="228600"/>
            <a:ext cx="11201400" cy="502920"/>
          </a:xfrm>
          <a:prstGeom prst="rect">
            <a:avLst/>
          </a:prstGeom>
          <a:noFill/>
        </p:spPr>
        <p:txBody>
          <a:bodyPr wrap="square" lIns="36576" rIns="36576" tIns="36576" bIns="36576" anchor="ctr">
            <a:spAutoFit/>
          </a:bodyPr>
          <a:lstStyle/>
          <a:p>
            <a:r>
              <a:rPr sz="2700" b="1">
                <a:solidFill>
                  <a:srgbClr val="172B3A"/>
                </a:solidFill>
                <a:latin typeface="Arial"/>
              </a:rPr>
              <a:t>Shortly turns long URLs into shared, trackable links</a:t>
            </a:r>
          </a:p>
        </p:txBody>
      </p:sp>
      <p:sp>
        <p:nvSpPr>
          <p:cNvPr id="3" name="Rectangle 2"/>
          <p:cNvSpPr/>
          <p:nvPr/>
        </p:nvSpPr>
        <p:spPr>
          <a:xfrm>
            <a:off x="502920" y="832104"/>
            <a:ext cx="713232" cy="50292"/>
          </a:xfrm>
          <a:prstGeom prst="rect">
            <a:avLst/>
          </a:prstGeom>
          <a:solidFill>
            <a:srgbClr val="1A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93776" y="905256"/>
            <a:ext cx="11155680" cy="310896"/>
          </a:xfrm>
          <a:prstGeom prst="rect">
            <a:avLst/>
          </a:prstGeom>
          <a:noFill/>
        </p:spPr>
        <p:txBody>
          <a:bodyPr wrap="square" lIns="36576" rIns="36576" tIns="36576" bIns="36576" anchor="ctr">
            <a:spAutoFit/>
          </a:bodyPr>
          <a:lstStyle/>
          <a:p>
            <a:r>
              <a:rPr sz="1250" b="0">
                <a:solidFill>
                  <a:srgbClr val="60727C"/>
                </a:solidFill>
                <a:latin typeface="Arial"/>
              </a:rPr>
              <a:t>Architecture and project team</a:t>
            </a:r>
          </a:p>
        </p:txBody>
      </p:sp>
      <p:sp>
        <p:nvSpPr>
          <p:cNvPr id="5" name="TextBox 4"/>
          <p:cNvSpPr txBox="1"/>
          <p:nvPr/>
        </p:nvSpPr>
        <p:spPr>
          <a:xfrm>
            <a:off x="502920" y="6519672"/>
            <a:ext cx="11064240" cy="182880"/>
          </a:xfrm>
          <a:prstGeom prst="rect">
            <a:avLst/>
          </a:prstGeom>
          <a:noFill/>
        </p:spPr>
        <p:txBody>
          <a:bodyPr wrap="square" lIns="36576" rIns="36576" tIns="36576" bIns="36576" anchor="ctr">
            <a:spAutoFit/>
          </a:bodyPr>
          <a:lstStyle/>
          <a:p>
            <a:r>
              <a:rPr sz="850" b="0">
                <a:solidFill>
                  <a:srgbClr val="60727C"/>
                </a:solidFill>
                <a:latin typeface="Arial"/>
              </a:rPr>
              <a:t>SHORTLY  /  DEVOPS CA-2                                      01</a:t>
            </a:r>
          </a:p>
        </p:txBody>
      </p:sp>
      <p:pic>
        <p:nvPicPr>
          <p:cNvPr id="6" name="Picture 5" descr="27-pipeline-diagram.png"/>
          <p:cNvPicPr>
            <a:picLocks noChangeAspect="1"/>
          </p:cNvPicPr>
          <p:nvPr/>
        </p:nvPicPr>
        <p:blipFill>
          <a:blip r:embed="rId2"/>
          <a:stretch>
            <a:fillRect/>
          </a:stretch>
        </p:blipFill>
        <p:spPr>
          <a:xfrm>
            <a:off x="566928" y="1310099"/>
            <a:ext cx="11018520" cy="2683321"/>
          </a:xfrm>
          <a:prstGeom prst="rect">
            <a:avLst/>
          </a:prstGeom>
        </p:spPr>
      </p:pic>
      <p:sp>
        <p:nvSpPr>
          <p:cNvPr id="7" name="TextBox 6"/>
          <p:cNvSpPr txBox="1"/>
          <p:nvPr/>
        </p:nvSpPr>
        <p:spPr>
          <a:xfrm>
            <a:off x="566928" y="4009644"/>
            <a:ext cx="11018520" cy="228600"/>
          </a:xfrm>
          <a:prstGeom prst="rect">
            <a:avLst/>
          </a:prstGeom>
          <a:noFill/>
        </p:spPr>
        <p:txBody>
          <a:bodyPr wrap="square" lIns="36576" rIns="36576" tIns="36576" bIns="36576" anchor="ctr">
            <a:spAutoFit/>
          </a:bodyPr>
          <a:lstStyle/>
          <a:p>
            <a:pPr algn="ctr"/>
            <a:r>
              <a:rPr sz="1000" b="1">
                <a:solidFill>
                  <a:srgbClr val="60727C"/>
                </a:solidFill>
                <a:latin typeface="Arial"/>
              </a:rPr>
              <a:t>Captured project architecture diagram</a:t>
            </a:r>
          </a:p>
        </p:txBody>
      </p:sp>
      <p:pic>
        <p:nvPicPr>
          <p:cNvPr id="8" name="Picture 7" descr="APP_frontend.png"/>
          <p:cNvPicPr>
            <a:picLocks noChangeAspect="1"/>
          </p:cNvPicPr>
          <p:nvPr/>
        </p:nvPicPr>
        <p:blipFill>
          <a:blip r:embed="rId3"/>
          <a:stretch>
            <a:fillRect/>
          </a:stretch>
        </p:blipFill>
        <p:spPr>
          <a:xfrm>
            <a:off x="713356" y="4315968"/>
            <a:ext cx="3163575" cy="2057400"/>
          </a:xfrm>
          <a:prstGeom prst="rect">
            <a:avLst/>
          </a:prstGeom>
        </p:spPr>
      </p:pic>
      <p:sp>
        <p:nvSpPr>
          <p:cNvPr id="9" name="TextBox 8"/>
          <p:cNvSpPr txBox="1"/>
          <p:nvPr/>
        </p:nvSpPr>
        <p:spPr>
          <a:xfrm>
            <a:off x="713232" y="6387083"/>
            <a:ext cx="3163824" cy="228600"/>
          </a:xfrm>
          <a:prstGeom prst="rect">
            <a:avLst/>
          </a:prstGeom>
          <a:noFill/>
        </p:spPr>
        <p:txBody>
          <a:bodyPr wrap="square" lIns="36576" rIns="36576" tIns="36576" bIns="36576" anchor="ctr">
            <a:spAutoFit/>
          </a:bodyPr>
          <a:lstStyle/>
          <a:p>
            <a:pPr algn="ctr"/>
            <a:r>
              <a:rPr sz="1000" b="1">
                <a:solidFill>
                  <a:srgbClr val="60727C"/>
                </a:solidFill>
                <a:latin typeface="Arial"/>
              </a:rPr>
              <a:t>The app creates and lists short links</a:t>
            </a:r>
          </a:p>
        </p:txBody>
      </p:sp>
      <p:sp>
        <p:nvSpPr>
          <p:cNvPr id="10" name="TextBox 9"/>
          <p:cNvSpPr txBox="1"/>
          <p:nvPr/>
        </p:nvSpPr>
        <p:spPr>
          <a:xfrm>
            <a:off x="4315968" y="4242816"/>
            <a:ext cx="6309360" cy="256032"/>
          </a:xfrm>
          <a:prstGeom prst="rect">
            <a:avLst/>
          </a:prstGeom>
          <a:noFill/>
        </p:spPr>
        <p:txBody>
          <a:bodyPr wrap="square" lIns="36576" rIns="36576" tIns="36576" bIns="36576" anchor="ctr">
            <a:spAutoFit/>
          </a:bodyPr>
          <a:lstStyle/>
          <a:p>
            <a:r>
              <a:rPr sz="1100" b="1">
                <a:solidFill>
                  <a:srgbClr val="1A8C8C"/>
                </a:solidFill>
                <a:latin typeface="Arial"/>
              </a:rPr>
              <a:t>PROJECT GROUP</a:t>
            </a:r>
          </a:p>
        </p:txBody>
      </p:sp>
      <p:sp>
        <p:nvSpPr>
          <p:cNvPr id="11" name="TextBox 10"/>
          <p:cNvSpPr txBox="1"/>
          <p:nvPr/>
        </p:nvSpPr>
        <p:spPr>
          <a:xfrm>
            <a:off x="4334256" y="4553712"/>
            <a:ext cx="2971800" cy="292608"/>
          </a:xfrm>
          <a:prstGeom prst="rect">
            <a:avLst/>
          </a:prstGeom>
          <a:noFill/>
        </p:spPr>
        <p:txBody>
          <a:bodyPr wrap="square" lIns="36576" rIns="36576" tIns="36576" bIns="36576" anchor="ctr">
            <a:spAutoFit/>
          </a:bodyPr>
          <a:lstStyle/>
          <a:p>
            <a:r>
              <a:rPr sz="1400" b="1">
                <a:solidFill>
                  <a:srgbClr val="18313F"/>
                </a:solidFill>
                <a:latin typeface="Arial"/>
              </a:rPr>
              <a:t>Harsh Ledwani</a:t>
            </a:r>
          </a:p>
        </p:txBody>
      </p:sp>
      <p:sp>
        <p:nvSpPr>
          <p:cNvPr id="12" name="TextBox 11"/>
          <p:cNvSpPr txBox="1"/>
          <p:nvPr/>
        </p:nvSpPr>
        <p:spPr>
          <a:xfrm>
            <a:off x="7424927" y="4553712"/>
            <a:ext cx="3108960" cy="292608"/>
          </a:xfrm>
          <a:prstGeom prst="rect">
            <a:avLst/>
          </a:prstGeom>
          <a:noFill/>
        </p:spPr>
        <p:txBody>
          <a:bodyPr wrap="square" lIns="36576" rIns="36576" tIns="36576" bIns="36576" anchor="ctr">
            <a:spAutoFit/>
          </a:bodyPr>
          <a:lstStyle/>
          <a:p>
            <a:r>
              <a:rPr sz="1300" b="0">
                <a:solidFill>
                  <a:srgbClr val="60727C"/>
                </a:solidFill>
                <a:latin typeface="Arial"/>
              </a:rPr>
              <a:t>Roll no.  23070122100</a:t>
            </a:r>
          </a:p>
        </p:txBody>
      </p:sp>
      <p:sp>
        <p:nvSpPr>
          <p:cNvPr id="13" name="TextBox 12"/>
          <p:cNvSpPr txBox="1"/>
          <p:nvPr/>
        </p:nvSpPr>
        <p:spPr>
          <a:xfrm>
            <a:off x="4334256" y="4956048"/>
            <a:ext cx="2971800" cy="292608"/>
          </a:xfrm>
          <a:prstGeom prst="rect">
            <a:avLst/>
          </a:prstGeom>
          <a:noFill/>
        </p:spPr>
        <p:txBody>
          <a:bodyPr wrap="square" lIns="36576" rIns="36576" tIns="36576" bIns="36576" anchor="ctr">
            <a:spAutoFit/>
          </a:bodyPr>
          <a:lstStyle/>
          <a:p>
            <a:r>
              <a:rPr sz="1400" b="1">
                <a:solidFill>
                  <a:srgbClr val="18313F"/>
                </a:solidFill>
                <a:latin typeface="Arial"/>
              </a:rPr>
              <a:t>Shivam Kapure</a:t>
            </a:r>
          </a:p>
        </p:txBody>
      </p:sp>
      <p:sp>
        <p:nvSpPr>
          <p:cNvPr id="14" name="TextBox 13"/>
          <p:cNvSpPr txBox="1"/>
          <p:nvPr/>
        </p:nvSpPr>
        <p:spPr>
          <a:xfrm>
            <a:off x="7424927" y="4956048"/>
            <a:ext cx="3108960" cy="292608"/>
          </a:xfrm>
          <a:prstGeom prst="rect">
            <a:avLst/>
          </a:prstGeom>
          <a:noFill/>
        </p:spPr>
        <p:txBody>
          <a:bodyPr wrap="square" lIns="36576" rIns="36576" tIns="36576" bIns="36576" anchor="ctr">
            <a:spAutoFit/>
          </a:bodyPr>
          <a:lstStyle/>
          <a:p>
            <a:r>
              <a:rPr sz="1300" b="0">
                <a:solidFill>
                  <a:srgbClr val="60727C"/>
                </a:solidFill>
                <a:latin typeface="Arial"/>
              </a:rPr>
              <a:t>Roll no.  23070122113</a:t>
            </a:r>
          </a:p>
        </p:txBody>
      </p:sp>
      <p:sp>
        <p:nvSpPr>
          <p:cNvPr id="15" name="TextBox 14"/>
          <p:cNvSpPr txBox="1"/>
          <p:nvPr/>
        </p:nvSpPr>
        <p:spPr>
          <a:xfrm>
            <a:off x="4334256" y="5358384"/>
            <a:ext cx="2971800" cy="292608"/>
          </a:xfrm>
          <a:prstGeom prst="rect">
            <a:avLst/>
          </a:prstGeom>
          <a:noFill/>
        </p:spPr>
        <p:txBody>
          <a:bodyPr wrap="square" lIns="36576" rIns="36576" tIns="36576" bIns="36576" anchor="ctr">
            <a:spAutoFit/>
          </a:bodyPr>
          <a:lstStyle/>
          <a:p>
            <a:r>
              <a:rPr sz="1400" b="1">
                <a:solidFill>
                  <a:srgbClr val="18313F"/>
                </a:solidFill>
                <a:latin typeface="Arial"/>
              </a:rPr>
              <a:t>Kashyup Gaud</a:t>
            </a:r>
          </a:p>
        </p:txBody>
      </p:sp>
      <p:sp>
        <p:nvSpPr>
          <p:cNvPr id="16" name="TextBox 15"/>
          <p:cNvSpPr txBox="1"/>
          <p:nvPr/>
        </p:nvSpPr>
        <p:spPr>
          <a:xfrm>
            <a:off x="7424927" y="5358384"/>
            <a:ext cx="3108960" cy="292608"/>
          </a:xfrm>
          <a:prstGeom prst="rect">
            <a:avLst/>
          </a:prstGeom>
          <a:noFill/>
        </p:spPr>
        <p:txBody>
          <a:bodyPr wrap="square" lIns="36576" rIns="36576" tIns="36576" bIns="36576" anchor="ctr">
            <a:spAutoFit/>
          </a:bodyPr>
          <a:lstStyle/>
          <a:p>
            <a:r>
              <a:rPr sz="1300" b="0">
                <a:solidFill>
                  <a:srgbClr val="60727C"/>
                </a:solidFill>
                <a:latin typeface="Arial"/>
              </a:rPr>
              <a:t>Roll no.  23070122114</a:t>
            </a:r>
          </a:p>
        </p:txBody>
      </p:sp>
      <p:sp>
        <p:nvSpPr>
          <p:cNvPr id="17" name="TextBox 16"/>
          <p:cNvSpPr txBox="1"/>
          <p:nvPr/>
        </p:nvSpPr>
        <p:spPr>
          <a:xfrm>
            <a:off x="4334256" y="5760720"/>
            <a:ext cx="2971800" cy="292608"/>
          </a:xfrm>
          <a:prstGeom prst="rect">
            <a:avLst/>
          </a:prstGeom>
          <a:noFill/>
        </p:spPr>
        <p:txBody>
          <a:bodyPr wrap="square" lIns="36576" rIns="36576" tIns="36576" bIns="36576" anchor="ctr">
            <a:spAutoFit/>
          </a:bodyPr>
          <a:lstStyle/>
          <a:p>
            <a:r>
              <a:rPr sz="1400" b="1">
                <a:solidFill>
                  <a:srgbClr val="18313F"/>
                </a:solidFill>
                <a:latin typeface="Arial"/>
              </a:rPr>
              <a:t>Kisna Kanti</a:t>
            </a:r>
          </a:p>
        </p:txBody>
      </p:sp>
      <p:sp>
        <p:nvSpPr>
          <p:cNvPr id="18" name="TextBox 17"/>
          <p:cNvSpPr txBox="1"/>
          <p:nvPr/>
        </p:nvSpPr>
        <p:spPr>
          <a:xfrm>
            <a:off x="7424927" y="5760720"/>
            <a:ext cx="3108960" cy="292608"/>
          </a:xfrm>
          <a:prstGeom prst="rect">
            <a:avLst/>
          </a:prstGeom>
          <a:noFill/>
        </p:spPr>
        <p:txBody>
          <a:bodyPr wrap="square" lIns="36576" rIns="36576" tIns="36576" bIns="36576" anchor="ctr">
            <a:spAutoFit/>
          </a:bodyPr>
          <a:lstStyle/>
          <a:p>
            <a:r>
              <a:rPr sz="1300" b="0">
                <a:solidFill>
                  <a:srgbClr val="60727C"/>
                </a:solidFill>
                <a:latin typeface="Arial"/>
              </a:rPr>
              <a:t>Roll no.  23070122116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75488" y="228600"/>
            <a:ext cx="11201400" cy="502920"/>
          </a:xfrm>
          <a:prstGeom prst="rect">
            <a:avLst/>
          </a:prstGeom>
          <a:noFill/>
        </p:spPr>
        <p:txBody>
          <a:bodyPr wrap="square" lIns="36576" rIns="36576" tIns="36576" bIns="36576" anchor="ctr">
            <a:spAutoFit/>
          </a:bodyPr>
          <a:lstStyle/>
          <a:p>
            <a:r>
              <a:rPr sz="2700" b="1">
                <a:solidFill>
                  <a:srgbClr val="172B3A"/>
                </a:solidFill>
                <a:latin typeface="Arial"/>
              </a:rPr>
              <a:t>GitHub Actions checks the image before Minikube deploys it</a:t>
            </a:r>
          </a:p>
        </p:txBody>
      </p:sp>
      <p:sp>
        <p:nvSpPr>
          <p:cNvPr id="3" name="Rectangle 2"/>
          <p:cNvSpPr/>
          <p:nvPr/>
        </p:nvSpPr>
        <p:spPr>
          <a:xfrm>
            <a:off x="502920" y="832104"/>
            <a:ext cx="713232" cy="50292"/>
          </a:xfrm>
          <a:prstGeom prst="rect">
            <a:avLst/>
          </a:prstGeom>
          <a:solidFill>
            <a:srgbClr val="1A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93776" y="905256"/>
            <a:ext cx="11155680" cy="310896"/>
          </a:xfrm>
          <a:prstGeom prst="rect">
            <a:avLst/>
          </a:prstGeom>
          <a:noFill/>
        </p:spPr>
        <p:txBody>
          <a:bodyPr wrap="square" lIns="36576" rIns="36576" tIns="36576" bIns="36576" anchor="ctr">
            <a:spAutoFit/>
          </a:bodyPr>
          <a:lstStyle/>
          <a:p>
            <a:r>
              <a:rPr sz="1250" b="0">
                <a:solidFill>
                  <a:srgbClr val="60727C"/>
                </a:solidFill>
                <a:latin typeface="Arial"/>
              </a:rPr>
              <a:t>Hosted build and scan jobs hand the verified image to a guarded local runner</a:t>
            </a:r>
          </a:p>
        </p:txBody>
      </p:sp>
      <p:sp>
        <p:nvSpPr>
          <p:cNvPr id="5" name="TextBox 4"/>
          <p:cNvSpPr txBox="1"/>
          <p:nvPr/>
        </p:nvSpPr>
        <p:spPr>
          <a:xfrm>
            <a:off x="502920" y="6519672"/>
            <a:ext cx="11064240" cy="182880"/>
          </a:xfrm>
          <a:prstGeom prst="rect">
            <a:avLst/>
          </a:prstGeom>
          <a:noFill/>
        </p:spPr>
        <p:txBody>
          <a:bodyPr wrap="square" lIns="36576" rIns="36576" tIns="36576" bIns="36576" anchor="ctr">
            <a:spAutoFit/>
          </a:bodyPr>
          <a:lstStyle/>
          <a:p>
            <a:r>
              <a:rPr sz="850" b="0">
                <a:solidFill>
                  <a:srgbClr val="60727C"/>
                </a:solidFill>
                <a:latin typeface="Arial"/>
              </a:rPr>
              <a:t>SHORTLY  /  DEVOPS CA-2                                      02</a:t>
            </a:r>
          </a:p>
        </p:txBody>
      </p:sp>
      <p:sp>
        <p:nvSpPr>
          <p:cNvPr id="6" name="Rounded Rectangle 5"/>
          <p:cNvSpPr/>
          <p:nvPr/>
        </p:nvSpPr>
        <p:spPr>
          <a:xfrm>
            <a:off x="530352" y="1600200"/>
            <a:ext cx="1874519" cy="786384"/>
          </a:xfrm>
          <a:prstGeom prst="roundRect">
            <a:avLst/>
          </a:prstGeom>
          <a:solidFill>
            <a:srgbClr val="EEF4F5"/>
          </a:solidFill>
          <a:ln w="12700">
            <a:solidFill>
              <a:srgbClr val="1A8C8C"/>
            </a:solidFill>
          </a:ln>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r>
              <a:rPr sz="1300" b="1">
                <a:solidFill>
                  <a:srgbClr val="18313F"/>
                </a:solidFill>
                <a:latin typeface="Arial"/>
              </a:rPr>
              <a:t>Push to main</a:t>
            </a:r>
          </a:p>
        </p:txBody>
      </p:sp>
      <p:sp>
        <p:nvSpPr>
          <p:cNvPr id="7" name="Rounded Rectangle 6"/>
          <p:cNvSpPr/>
          <p:nvPr/>
        </p:nvSpPr>
        <p:spPr>
          <a:xfrm>
            <a:off x="2816352" y="1600200"/>
            <a:ext cx="1874519" cy="786384"/>
          </a:xfrm>
          <a:prstGeom prst="roundRect">
            <a:avLst/>
          </a:prstGeom>
          <a:solidFill>
            <a:srgbClr val="EEF4F5"/>
          </a:solidFill>
          <a:ln w="12700">
            <a:solidFill>
              <a:srgbClr val="1A8C8C"/>
            </a:solidFill>
          </a:ln>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r>
              <a:rPr sz="1300" b="1">
                <a:solidFill>
                  <a:srgbClr val="18313F"/>
                </a:solidFill>
                <a:latin typeface="Arial"/>
              </a:rPr>
              <a:t>Lint and tests</a:t>
            </a:r>
          </a:p>
        </p:txBody>
      </p:sp>
      <p:sp>
        <p:nvSpPr>
          <p:cNvPr id="8" name="Rounded Rectangle 7"/>
          <p:cNvSpPr/>
          <p:nvPr/>
        </p:nvSpPr>
        <p:spPr>
          <a:xfrm>
            <a:off x="5102352" y="1600200"/>
            <a:ext cx="1874519" cy="786384"/>
          </a:xfrm>
          <a:prstGeom prst="roundRect">
            <a:avLst/>
          </a:prstGeom>
          <a:solidFill>
            <a:srgbClr val="EEF4F5"/>
          </a:solidFill>
          <a:ln w="12700">
            <a:solidFill>
              <a:srgbClr val="1A8C8C"/>
            </a:solidFill>
          </a:ln>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r>
              <a:rPr sz="1300" b="1">
                <a:solidFill>
                  <a:srgbClr val="18313F"/>
                </a:solidFill>
                <a:latin typeface="Arial"/>
              </a:rPr>
              <a:t>Build, scan
and SBOM</a:t>
            </a:r>
          </a:p>
        </p:txBody>
      </p:sp>
      <p:sp>
        <p:nvSpPr>
          <p:cNvPr id="9" name="Rounded Rectangle 8"/>
          <p:cNvSpPr/>
          <p:nvPr/>
        </p:nvSpPr>
        <p:spPr>
          <a:xfrm>
            <a:off x="7388352" y="1600200"/>
            <a:ext cx="1874519" cy="786384"/>
          </a:xfrm>
          <a:prstGeom prst="roundRect">
            <a:avLst/>
          </a:prstGeom>
          <a:solidFill>
            <a:srgbClr val="EEF4F5"/>
          </a:solidFill>
          <a:ln w="12700">
            <a:solidFill>
              <a:srgbClr val="1A8C8C"/>
            </a:solidFill>
          </a:ln>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r>
              <a:rPr sz="1300" b="1">
                <a:solidFill>
                  <a:srgbClr val="18313F"/>
                </a:solidFill>
                <a:latin typeface="Arial"/>
              </a:rPr>
              <a:t>Publish image
to GHCR</a:t>
            </a:r>
          </a:p>
        </p:txBody>
      </p:sp>
      <p:sp>
        <p:nvSpPr>
          <p:cNvPr id="10" name="Rounded Rectangle 9"/>
          <p:cNvSpPr/>
          <p:nvPr/>
        </p:nvSpPr>
        <p:spPr>
          <a:xfrm>
            <a:off x="9674352" y="1600200"/>
            <a:ext cx="1874519" cy="786384"/>
          </a:xfrm>
          <a:prstGeom prst="roundRect">
            <a:avLst/>
          </a:prstGeom>
          <a:solidFill>
            <a:srgbClr val="FFF5E6"/>
          </a:solidFill>
          <a:ln w="12700">
            <a:solidFill>
              <a:srgbClr val="C07A1A"/>
            </a:solidFill>
          </a:ln>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r>
              <a:rPr sz="1300" b="1">
                <a:solidFill>
                  <a:srgbClr val="18313F"/>
                </a:solidFill>
                <a:latin typeface="Arial"/>
              </a:rPr>
              <a:t>Verify digest
and deploy</a:t>
            </a:r>
          </a:p>
        </p:txBody>
      </p:sp>
      <p:cxnSp>
        <p:nvCxnSpPr>
          <p:cNvPr id="11" name="Connector 10"/>
          <p:cNvCxnSpPr/>
          <p:nvPr/>
        </p:nvCxnSpPr>
        <p:spPr>
          <a:xfrm>
            <a:off x="2423160" y="1993392"/>
            <a:ext cx="365760" cy="0"/>
          </a:xfrm>
          <a:prstGeom prst="line">
            <a:avLst/>
          </a:prstGeom>
          <a:ln w="19050">
            <a:solidFill>
              <a:srgbClr val="1A8C8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709160" y="1993392"/>
            <a:ext cx="365760" cy="0"/>
          </a:xfrm>
          <a:prstGeom prst="line">
            <a:avLst/>
          </a:prstGeom>
          <a:ln w="19050">
            <a:solidFill>
              <a:srgbClr val="1A8C8C"/>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995160" y="1993392"/>
            <a:ext cx="365760" cy="0"/>
          </a:xfrm>
          <a:prstGeom prst="line">
            <a:avLst/>
          </a:prstGeom>
          <a:ln w="19050">
            <a:solidFill>
              <a:srgbClr val="1A8C8C"/>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281160" y="1993392"/>
            <a:ext cx="365760" cy="0"/>
          </a:xfrm>
          <a:prstGeom prst="line">
            <a:avLst/>
          </a:prstGeom>
          <a:ln w="19050">
            <a:solidFill>
              <a:srgbClr val="1A8C8C"/>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48640" y="1353312"/>
            <a:ext cx="1828800" cy="182880"/>
          </a:xfrm>
          <a:prstGeom prst="rect">
            <a:avLst/>
          </a:prstGeom>
          <a:noFill/>
        </p:spPr>
        <p:txBody>
          <a:bodyPr wrap="square" lIns="36576" rIns="36576" tIns="36576" bIns="36576" anchor="ctr">
            <a:spAutoFit/>
          </a:bodyPr>
          <a:lstStyle/>
          <a:p>
            <a:r>
              <a:rPr sz="950" b="1">
                <a:solidFill>
                  <a:srgbClr val="1A8C8C"/>
                </a:solidFill>
                <a:latin typeface="Arial"/>
              </a:rPr>
              <a:t>GITHUB-HOSTED</a:t>
            </a:r>
          </a:p>
        </p:txBody>
      </p:sp>
      <p:sp>
        <p:nvSpPr>
          <p:cNvPr id="16" name="TextBox 15"/>
          <p:cNvSpPr txBox="1"/>
          <p:nvPr/>
        </p:nvSpPr>
        <p:spPr>
          <a:xfrm>
            <a:off x="9656064" y="1353312"/>
            <a:ext cx="1828800" cy="182880"/>
          </a:xfrm>
          <a:prstGeom prst="rect">
            <a:avLst/>
          </a:prstGeom>
          <a:noFill/>
        </p:spPr>
        <p:txBody>
          <a:bodyPr wrap="square" lIns="36576" rIns="36576" tIns="36576" bIns="36576" anchor="ctr">
            <a:spAutoFit/>
          </a:bodyPr>
          <a:lstStyle/>
          <a:p>
            <a:r>
              <a:rPr sz="950" b="1">
                <a:solidFill>
                  <a:srgbClr val="C07A1A"/>
                </a:solidFill>
                <a:latin typeface="Arial"/>
              </a:rPr>
              <a:t>SELF-HOSTED</a:t>
            </a:r>
          </a:p>
        </p:txBody>
      </p:sp>
      <p:sp>
        <p:nvSpPr>
          <p:cNvPr id="17" name="Rounded Rectangle 16"/>
          <p:cNvSpPr/>
          <p:nvPr/>
        </p:nvSpPr>
        <p:spPr>
          <a:xfrm>
            <a:off x="9674352" y="2788920"/>
            <a:ext cx="1874519" cy="621792"/>
          </a:xfrm>
          <a:prstGeom prst="roundRect">
            <a:avLst/>
          </a:prstGeom>
          <a:solidFill>
            <a:srgbClr val="E8F3F1"/>
          </a:solidFill>
          <a:ln w="12700">
            <a:solidFill>
              <a:srgbClr val="1A8C8C"/>
            </a:solidFill>
          </a:ln>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r>
              <a:rPr sz="1150" b="1">
                <a:solidFill>
                  <a:srgbClr val="18313F"/>
                </a:solidFill>
                <a:latin typeface="Arial"/>
              </a:rPr>
              <a:t>Verify rollout, smoke
and version</a:t>
            </a:r>
          </a:p>
        </p:txBody>
      </p:sp>
      <p:cxnSp>
        <p:nvCxnSpPr>
          <p:cNvPr id="18" name="Connector 17"/>
          <p:cNvCxnSpPr/>
          <p:nvPr/>
        </p:nvCxnSpPr>
        <p:spPr>
          <a:xfrm>
            <a:off x="10607040" y="2386584"/>
            <a:ext cx="0" cy="402336"/>
          </a:xfrm>
          <a:prstGeom prst="line">
            <a:avLst/>
          </a:prstGeom>
          <a:ln w="19050">
            <a:solidFill>
              <a:srgbClr val="1A8C8C"/>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674352" y="3547872"/>
            <a:ext cx="1874519" cy="521207"/>
          </a:xfrm>
          <a:prstGeom prst="roundRect">
            <a:avLst/>
          </a:prstGeom>
          <a:solidFill>
            <a:srgbClr val="E8F3F1"/>
          </a:solidFill>
          <a:ln w="12700">
            <a:solidFill>
              <a:srgbClr val="1A8C8C"/>
            </a:solidFill>
          </a:ln>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r>
              <a:rPr sz="1050" b="1">
                <a:solidFill>
                  <a:srgbClr val="18313F"/>
                </a:solidFill>
                <a:latin typeface="Arial"/>
              </a:rPr>
              <a:t>Pass: release succeeds</a:t>
            </a:r>
          </a:p>
        </p:txBody>
      </p:sp>
      <p:sp>
        <p:nvSpPr>
          <p:cNvPr id="20" name="Rounded Rectangle 19"/>
          <p:cNvSpPr/>
          <p:nvPr/>
        </p:nvSpPr>
        <p:spPr>
          <a:xfrm>
            <a:off x="6473952" y="3547872"/>
            <a:ext cx="2606040" cy="521207"/>
          </a:xfrm>
          <a:prstGeom prst="roundRect">
            <a:avLst/>
          </a:prstGeom>
          <a:solidFill>
            <a:srgbClr val="FFF5E6"/>
          </a:solidFill>
          <a:ln w="12700">
            <a:solidFill>
              <a:srgbClr val="C07A1A"/>
            </a:solidFill>
          </a:ln>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r>
              <a:rPr sz="1050" b="1">
                <a:solidFill>
                  <a:srgbClr val="18313F"/>
                </a:solidFill>
                <a:latin typeface="Arial"/>
              </a:rPr>
              <a:t>Failure: undo rollout; job stays red</a:t>
            </a:r>
          </a:p>
        </p:txBody>
      </p:sp>
      <p:cxnSp>
        <p:nvCxnSpPr>
          <p:cNvPr id="21" name="Connector 20"/>
          <p:cNvCxnSpPr/>
          <p:nvPr/>
        </p:nvCxnSpPr>
        <p:spPr>
          <a:xfrm>
            <a:off x="10607040" y="3410712"/>
            <a:ext cx="0" cy="137160"/>
          </a:xfrm>
          <a:prstGeom prst="line">
            <a:avLst/>
          </a:prstGeom>
          <a:ln w="19050">
            <a:solidFill>
              <a:srgbClr val="1A8C8C"/>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7772400" y="3410712"/>
            <a:ext cx="1901952" cy="0"/>
          </a:xfrm>
          <a:prstGeom prst="line">
            <a:avLst/>
          </a:prstGeom>
          <a:ln w="16510">
            <a:solidFill>
              <a:srgbClr val="C07A1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772400" y="3410712"/>
            <a:ext cx="0" cy="137160"/>
          </a:xfrm>
          <a:prstGeom prst="line">
            <a:avLst/>
          </a:prstGeom>
          <a:ln w="16510">
            <a:solidFill>
              <a:srgbClr val="C07A1A"/>
            </a:solidFill>
          </a:ln>
        </p:spPr>
        <p:style>
          <a:lnRef idx="2">
            <a:schemeClr val="accent1"/>
          </a:lnRef>
          <a:fillRef idx="0">
            <a:schemeClr val="accent1"/>
          </a:fillRef>
          <a:effectRef idx="1">
            <a:schemeClr val="accent1"/>
          </a:effectRef>
          <a:fontRef idx="minor">
            <a:schemeClr val="tx1"/>
          </a:fontRef>
        </p:style>
      </p:cxnSp>
      <p:pic>
        <p:nvPicPr>
          <p:cNvPr id="24" name="Picture 23" descr="12-deploy-job-summary.png"/>
          <p:cNvPicPr>
            <a:picLocks noChangeAspect="1"/>
          </p:cNvPicPr>
          <p:nvPr/>
        </p:nvPicPr>
        <p:blipFill>
          <a:blip r:embed="rId2"/>
          <a:stretch>
            <a:fillRect/>
          </a:stretch>
        </p:blipFill>
        <p:spPr>
          <a:xfrm>
            <a:off x="1511935" y="4315968"/>
            <a:ext cx="2727704" cy="1773936"/>
          </a:xfrm>
          <a:prstGeom prst="rect">
            <a:avLst/>
          </a:prstGeom>
        </p:spPr>
      </p:pic>
      <p:sp>
        <p:nvSpPr>
          <p:cNvPr id="25" name="TextBox 24"/>
          <p:cNvSpPr txBox="1"/>
          <p:nvPr/>
        </p:nvSpPr>
        <p:spPr>
          <a:xfrm>
            <a:off x="566928" y="6103620"/>
            <a:ext cx="4617720" cy="228600"/>
          </a:xfrm>
          <a:prstGeom prst="rect">
            <a:avLst/>
          </a:prstGeom>
          <a:noFill/>
        </p:spPr>
        <p:txBody>
          <a:bodyPr wrap="square" lIns="36576" rIns="36576" tIns="36576" bIns="36576" anchor="ctr">
            <a:spAutoFit/>
          </a:bodyPr>
          <a:lstStyle/>
          <a:p>
            <a:pPr algn="ctr"/>
            <a:r>
              <a:rPr sz="1000" b="1">
                <a:solidFill>
                  <a:srgbClr val="60727C"/>
                </a:solidFill>
                <a:latin typeface="Arial"/>
              </a:rPr>
              <a:t>Captured successful workflow run: all jobs passed in 1m 58s</a:t>
            </a:r>
          </a:p>
        </p:txBody>
      </p:sp>
      <p:sp>
        <p:nvSpPr>
          <p:cNvPr id="26" name="TextBox 25"/>
          <p:cNvSpPr txBox="1"/>
          <p:nvPr/>
        </p:nvSpPr>
        <p:spPr>
          <a:xfrm>
            <a:off x="5596128" y="4617720"/>
            <a:ext cx="5897880" cy="1024128"/>
          </a:xfrm>
          <a:prstGeom prst="rect">
            <a:avLst/>
          </a:prstGeom>
          <a:noFill/>
        </p:spPr>
        <p:txBody>
          <a:bodyPr wrap="square" lIns="36576" rIns="36576" tIns="36576" bIns="36576" anchor="ctr">
            <a:spAutoFit/>
          </a:bodyPr>
          <a:lstStyle/>
          <a:p>
            <a:r>
              <a:rPr sz="1500" b="1">
                <a:solidFill>
                  <a:srgbClr val="18313F"/>
                </a:solidFill>
                <a:latin typeface="Arial"/>
              </a:rPr>
              <a:t>The deploy job verifies the same image digest that passed the hosted scan.
A verification failure triggers rollback and leaves the workflow visibly failed.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75488" y="228600"/>
            <a:ext cx="11201400" cy="502920"/>
          </a:xfrm>
          <a:prstGeom prst="rect">
            <a:avLst/>
          </a:prstGeom>
          <a:noFill/>
        </p:spPr>
        <p:txBody>
          <a:bodyPr wrap="square" lIns="36576" rIns="36576" tIns="36576" bIns="36576" anchor="ctr">
            <a:spAutoFit/>
          </a:bodyPr>
          <a:lstStyle/>
          <a:p>
            <a:r>
              <a:rPr sz="2700" b="1">
                <a:solidFill>
                  <a:srgbClr val="172B3A"/>
                </a:solidFill>
                <a:latin typeface="Arial"/>
              </a:rPr>
              <a:t>Grafana makes traffic, errors, and latency visible</a:t>
            </a:r>
          </a:p>
        </p:txBody>
      </p:sp>
      <p:sp>
        <p:nvSpPr>
          <p:cNvPr id="3" name="Rectangle 2"/>
          <p:cNvSpPr/>
          <p:nvPr/>
        </p:nvSpPr>
        <p:spPr>
          <a:xfrm>
            <a:off x="502920" y="832104"/>
            <a:ext cx="713232" cy="50292"/>
          </a:xfrm>
          <a:prstGeom prst="rect">
            <a:avLst/>
          </a:prstGeom>
          <a:solidFill>
            <a:srgbClr val="1A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93776" y="905256"/>
            <a:ext cx="11155680" cy="310896"/>
          </a:xfrm>
          <a:prstGeom prst="rect">
            <a:avLst/>
          </a:prstGeom>
          <a:noFill/>
        </p:spPr>
        <p:txBody>
          <a:bodyPr wrap="square" lIns="36576" rIns="36576" tIns="36576" bIns="36576" anchor="ctr">
            <a:spAutoFit/>
          </a:bodyPr>
          <a:lstStyle/>
          <a:p>
            <a:r>
              <a:rPr sz="1250" b="0">
                <a:solidFill>
                  <a:srgbClr val="60727C"/>
                </a:solidFill>
                <a:latin typeface="Arial"/>
              </a:rPr>
              <a:t>Prometheus scrapes the app; the dashboard turns those metrics into signals</a:t>
            </a:r>
          </a:p>
        </p:txBody>
      </p:sp>
      <p:sp>
        <p:nvSpPr>
          <p:cNvPr id="5" name="TextBox 4"/>
          <p:cNvSpPr txBox="1"/>
          <p:nvPr/>
        </p:nvSpPr>
        <p:spPr>
          <a:xfrm>
            <a:off x="502920" y="6519672"/>
            <a:ext cx="11064240" cy="182880"/>
          </a:xfrm>
          <a:prstGeom prst="rect">
            <a:avLst/>
          </a:prstGeom>
          <a:noFill/>
        </p:spPr>
        <p:txBody>
          <a:bodyPr wrap="square" lIns="36576" rIns="36576" tIns="36576" bIns="36576" anchor="ctr">
            <a:spAutoFit/>
          </a:bodyPr>
          <a:lstStyle/>
          <a:p>
            <a:r>
              <a:rPr sz="850" b="0">
                <a:solidFill>
                  <a:srgbClr val="60727C"/>
                </a:solidFill>
                <a:latin typeface="Arial"/>
              </a:rPr>
              <a:t>SHORTLY  /  DEVOPS CA-2                                      03</a:t>
            </a:r>
          </a:p>
        </p:txBody>
      </p:sp>
      <p:pic>
        <p:nvPicPr>
          <p:cNvPr id="6" name="Picture 5" descr="01-baseline-overview.png"/>
          <p:cNvPicPr>
            <a:picLocks noChangeAspect="1"/>
          </p:cNvPicPr>
          <p:nvPr/>
        </p:nvPicPr>
        <p:blipFill>
          <a:blip r:embed="rId2"/>
          <a:stretch>
            <a:fillRect/>
          </a:stretch>
        </p:blipFill>
        <p:spPr>
          <a:xfrm>
            <a:off x="566928" y="1409295"/>
            <a:ext cx="6858000" cy="4460032"/>
          </a:xfrm>
          <a:prstGeom prst="rect">
            <a:avLst/>
          </a:prstGeom>
        </p:spPr>
      </p:pic>
      <p:sp>
        <p:nvSpPr>
          <p:cNvPr id="7" name="TextBox 6"/>
          <p:cNvSpPr txBox="1"/>
          <p:nvPr/>
        </p:nvSpPr>
        <p:spPr>
          <a:xfrm>
            <a:off x="566928" y="5902451"/>
            <a:ext cx="6858000" cy="228600"/>
          </a:xfrm>
          <a:prstGeom prst="rect">
            <a:avLst/>
          </a:prstGeom>
          <a:noFill/>
        </p:spPr>
        <p:txBody>
          <a:bodyPr wrap="square" lIns="36576" rIns="36576" tIns="36576" bIns="36576" anchor="ctr">
            <a:spAutoFit/>
          </a:bodyPr>
          <a:lstStyle/>
          <a:p>
            <a:pPr algn="ctr"/>
            <a:r>
              <a:rPr sz="1000" b="1">
                <a:solidFill>
                  <a:srgbClr val="60727C"/>
                </a:solidFill>
                <a:latin typeface="Arial"/>
              </a:rPr>
              <a:t>Captured baseline dashboard: 100% availability and 0% 5xx</a:t>
            </a:r>
          </a:p>
        </p:txBody>
      </p:sp>
      <p:pic>
        <p:nvPicPr>
          <p:cNvPr id="8" name="Picture 7" descr="03-latency-p95-alert.png"/>
          <p:cNvPicPr>
            <a:picLocks noChangeAspect="1"/>
          </p:cNvPicPr>
          <p:nvPr/>
        </p:nvPicPr>
        <p:blipFill>
          <a:blip r:embed="rId3"/>
          <a:stretch>
            <a:fillRect/>
          </a:stretch>
        </p:blipFill>
        <p:spPr>
          <a:xfrm>
            <a:off x="8170240" y="1417320"/>
            <a:ext cx="2980790" cy="1938528"/>
          </a:xfrm>
          <a:prstGeom prst="rect">
            <a:avLst/>
          </a:prstGeom>
        </p:spPr>
      </p:pic>
      <p:sp>
        <p:nvSpPr>
          <p:cNvPr id="9" name="TextBox 8"/>
          <p:cNvSpPr txBox="1"/>
          <p:nvPr/>
        </p:nvSpPr>
        <p:spPr>
          <a:xfrm>
            <a:off x="7726679" y="3369564"/>
            <a:ext cx="3867912" cy="228600"/>
          </a:xfrm>
          <a:prstGeom prst="rect">
            <a:avLst/>
          </a:prstGeom>
          <a:noFill/>
        </p:spPr>
        <p:txBody>
          <a:bodyPr wrap="square" lIns="36576" rIns="36576" tIns="36576" bIns="36576" anchor="ctr">
            <a:spAutoFit/>
          </a:bodyPr>
          <a:lstStyle/>
          <a:p>
            <a:pPr algn="ctr"/>
            <a:r>
              <a:rPr sz="1000" b="1">
                <a:solidFill>
                  <a:srgbClr val="60727C"/>
                </a:solidFill>
                <a:latin typeface="Arial"/>
              </a:rPr>
              <a:t>Latency scenario: p95 rises above the 500 ms threshold</a:t>
            </a:r>
          </a:p>
        </p:txBody>
      </p:sp>
      <p:pic>
        <p:nvPicPr>
          <p:cNvPr id="10" name="Picture 9" descr="04-errors-5xx-alert.png"/>
          <p:cNvPicPr>
            <a:picLocks noChangeAspect="1"/>
          </p:cNvPicPr>
          <p:nvPr/>
        </p:nvPicPr>
        <p:blipFill>
          <a:blip r:embed="rId4"/>
          <a:stretch>
            <a:fillRect/>
          </a:stretch>
        </p:blipFill>
        <p:spPr>
          <a:xfrm>
            <a:off x="8170240" y="3675887"/>
            <a:ext cx="2980790" cy="1938528"/>
          </a:xfrm>
          <a:prstGeom prst="rect">
            <a:avLst/>
          </a:prstGeom>
        </p:spPr>
      </p:pic>
      <p:sp>
        <p:nvSpPr>
          <p:cNvPr id="11" name="TextBox 10"/>
          <p:cNvSpPr txBox="1"/>
          <p:nvPr/>
        </p:nvSpPr>
        <p:spPr>
          <a:xfrm>
            <a:off x="7726679" y="5628131"/>
            <a:ext cx="3867912" cy="228600"/>
          </a:xfrm>
          <a:prstGeom prst="rect">
            <a:avLst/>
          </a:prstGeom>
          <a:noFill/>
        </p:spPr>
        <p:txBody>
          <a:bodyPr wrap="square" lIns="36576" rIns="36576" tIns="36576" bIns="36576" anchor="ctr">
            <a:spAutoFit/>
          </a:bodyPr>
          <a:lstStyle/>
          <a:p>
            <a:pPr algn="ctr"/>
            <a:r>
              <a:rPr sz="1000" b="1">
                <a:solidFill>
                  <a:srgbClr val="60727C"/>
                </a:solidFill>
                <a:latin typeface="Arial"/>
              </a:rPr>
              <a:t>Error scenario: 5xx rate rises during injected failures</a:t>
            </a:r>
          </a:p>
        </p:txBody>
      </p:sp>
      <p:sp>
        <p:nvSpPr>
          <p:cNvPr id="12" name="TextBox 11"/>
          <p:cNvSpPr txBox="1"/>
          <p:nvPr/>
        </p:nvSpPr>
        <p:spPr>
          <a:xfrm>
            <a:off x="640080" y="6153912"/>
            <a:ext cx="10972800" cy="228600"/>
          </a:xfrm>
          <a:prstGeom prst="rect">
            <a:avLst/>
          </a:prstGeom>
          <a:noFill/>
        </p:spPr>
        <p:txBody>
          <a:bodyPr wrap="square" lIns="36576" rIns="36576" tIns="36576" bIns="36576" anchor="ctr">
            <a:spAutoFit/>
          </a:bodyPr>
          <a:lstStyle/>
          <a:p>
            <a:pPr algn="ctr"/>
            <a:r>
              <a:rPr sz="1200" b="1">
                <a:solidFill>
                  <a:srgbClr val="18313F"/>
                </a:solidFill>
                <a:latin typeface="Arial"/>
              </a:rPr>
              <a:t>Saved baseline: 3,753 requests · 0 unexpected failures · client p95 8 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75488" y="228600"/>
            <a:ext cx="11201400" cy="502920"/>
          </a:xfrm>
          <a:prstGeom prst="rect">
            <a:avLst/>
          </a:prstGeom>
          <a:noFill/>
        </p:spPr>
        <p:txBody>
          <a:bodyPr wrap="square" lIns="36576" rIns="36576" tIns="36576" bIns="36576" anchor="ctr">
            <a:spAutoFit/>
          </a:bodyPr>
          <a:lstStyle/>
          <a:p>
            <a:r>
              <a:rPr sz="2700" b="1">
                <a:solidFill>
                  <a:srgbClr val="172B3A"/>
                </a:solidFill>
                <a:latin typeface="Arial"/>
              </a:rPr>
              <a:t>Readiness alone did not catch a broken release</a:t>
            </a:r>
          </a:p>
        </p:txBody>
      </p:sp>
      <p:sp>
        <p:nvSpPr>
          <p:cNvPr id="3" name="Rectangle 2"/>
          <p:cNvSpPr/>
          <p:nvPr/>
        </p:nvSpPr>
        <p:spPr>
          <a:xfrm>
            <a:off x="502920" y="832104"/>
            <a:ext cx="713232" cy="50292"/>
          </a:xfrm>
          <a:prstGeom prst="rect">
            <a:avLst/>
          </a:prstGeom>
          <a:solidFill>
            <a:srgbClr val="1A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93776" y="905256"/>
            <a:ext cx="11155680" cy="310896"/>
          </a:xfrm>
          <a:prstGeom prst="rect">
            <a:avLst/>
          </a:prstGeom>
          <a:noFill/>
        </p:spPr>
        <p:txBody>
          <a:bodyPr wrap="square" lIns="36576" rIns="36576" tIns="36576" bIns="36576" anchor="ctr">
            <a:spAutoFit/>
          </a:bodyPr>
          <a:lstStyle/>
          <a:p>
            <a:r>
              <a:rPr sz="1250" b="0">
                <a:solidFill>
                  <a:srgbClr val="60727C"/>
                </a:solidFill>
                <a:latin typeface="Arial"/>
              </a:rPr>
              <a:t>The release stayed Ready while ordinary redirect requests failed</a:t>
            </a:r>
          </a:p>
        </p:txBody>
      </p:sp>
      <p:sp>
        <p:nvSpPr>
          <p:cNvPr id="5" name="TextBox 4"/>
          <p:cNvSpPr txBox="1"/>
          <p:nvPr/>
        </p:nvSpPr>
        <p:spPr>
          <a:xfrm>
            <a:off x="502920" y="6519672"/>
            <a:ext cx="11064240" cy="182880"/>
          </a:xfrm>
          <a:prstGeom prst="rect">
            <a:avLst/>
          </a:prstGeom>
          <a:noFill/>
        </p:spPr>
        <p:txBody>
          <a:bodyPr wrap="square" lIns="36576" rIns="36576" tIns="36576" bIns="36576" anchor="ctr">
            <a:spAutoFit/>
          </a:bodyPr>
          <a:lstStyle/>
          <a:p>
            <a:r>
              <a:rPr sz="850" b="0">
                <a:solidFill>
                  <a:srgbClr val="60727C"/>
                </a:solidFill>
                <a:latin typeface="Arial"/>
              </a:rPr>
              <a:t>SHORTLY  /  DEVOPS CA-2                                      04</a:t>
            </a:r>
          </a:p>
        </p:txBody>
      </p:sp>
      <p:sp>
        <p:nvSpPr>
          <p:cNvPr id="6" name="TextBox 5"/>
          <p:cNvSpPr txBox="1"/>
          <p:nvPr/>
        </p:nvSpPr>
        <p:spPr>
          <a:xfrm>
            <a:off x="640080" y="1463040"/>
            <a:ext cx="4206240" cy="256032"/>
          </a:xfrm>
          <a:prstGeom prst="rect">
            <a:avLst/>
          </a:prstGeom>
          <a:noFill/>
        </p:spPr>
        <p:txBody>
          <a:bodyPr wrap="square" lIns="36576" rIns="36576" tIns="36576" bIns="36576" anchor="ctr">
            <a:spAutoFit/>
          </a:bodyPr>
          <a:lstStyle/>
          <a:p>
            <a:r>
              <a:rPr sz="1100" b="1">
                <a:solidFill>
                  <a:srgbClr val="1A8C8C"/>
                </a:solidFill>
                <a:latin typeface="Arial"/>
              </a:rPr>
              <a:t>WHAT HAPPENED</a:t>
            </a:r>
          </a:p>
        </p:txBody>
      </p:sp>
      <p:sp>
        <p:nvSpPr>
          <p:cNvPr id="7" name="TextBox 6"/>
          <p:cNvSpPr txBox="1"/>
          <p:nvPr/>
        </p:nvSpPr>
        <p:spPr>
          <a:xfrm>
            <a:off x="640080" y="1810512"/>
            <a:ext cx="4892040" cy="969264"/>
          </a:xfrm>
          <a:prstGeom prst="rect">
            <a:avLst/>
          </a:prstGeom>
          <a:noFill/>
        </p:spPr>
        <p:txBody>
          <a:bodyPr wrap="square" lIns="36576" rIns="36576" tIns="36576" bIns="36576" anchor="ctr">
            <a:spAutoFit/>
          </a:bodyPr>
          <a:lstStyle/>
          <a:p>
            <a:r>
              <a:rPr sz="1700" b="1">
                <a:solidFill>
                  <a:srgbClr val="18313F"/>
                </a:solidFill>
                <a:latin typeface="Arial"/>
              </a:rPr>
              <a:t>The bad image passed Kubernetes readiness, but smoke checks found redirect, URL validation, and blocked-domain requests returning 500.</a:t>
            </a:r>
          </a:p>
        </p:txBody>
      </p:sp>
      <p:sp>
        <p:nvSpPr>
          <p:cNvPr id="8" name="TextBox 7"/>
          <p:cNvSpPr txBox="1"/>
          <p:nvPr/>
        </p:nvSpPr>
        <p:spPr>
          <a:xfrm>
            <a:off x="640080" y="2971800"/>
            <a:ext cx="4572000" cy="256032"/>
          </a:xfrm>
          <a:prstGeom prst="rect">
            <a:avLst/>
          </a:prstGeom>
          <a:noFill/>
        </p:spPr>
        <p:txBody>
          <a:bodyPr wrap="square" lIns="36576" rIns="36576" tIns="36576" bIns="36576" anchor="ctr">
            <a:spAutoFit/>
          </a:bodyPr>
          <a:lstStyle/>
          <a:p>
            <a:r>
              <a:rPr sz="1100" b="1">
                <a:solidFill>
                  <a:srgbClr val="C07A1A"/>
                </a:solidFill>
                <a:latin typeface="Arial"/>
              </a:rPr>
              <a:t>HOW THE PIPELINE RESPONDED</a:t>
            </a:r>
          </a:p>
        </p:txBody>
      </p:sp>
      <p:sp>
        <p:nvSpPr>
          <p:cNvPr id="9" name="TextBox 8"/>
          <p:cNvSpPr txBox="1"/>
          <p:nvPr/>
        </p:nvSpPr>
        <p:spPr>
          <a:xfrm>
            <a:off x="640080" y="3310128"/>
            <a:ext cx="4892040" cy="886968"/>
          </a:xfrm>
          <a:prstGeom prst="rect">
            <a:avLst/>
          </a:prstGeom>
          <a:noFill/>
        </p:spPr>
        <p:txBody>
          <a:bodyPr wrap="square" lIns="36576" rIns="36576" tIns="36576" bIns="36576" anchor="ctr">
            <a:spAutoFit/>
          </a:bodyPr>
          <a:lstStyle/>
          <a:p>
            <a:r>
              <a:rPr sz="1600" b="0">
                <a:solidFill>
                  <a:srgbClr val="18313F"/>
                </a:solidFill>
                <a:latin typeface="Arial"/>
              </a:rPr>
              <a:t>It rolled the Deployment back to revision 58. The workflow stayed failed so the team could see that verification stopped the release.</a:t>
            </a:r>
          </a:p>
        </p:txBody>
      </p:sp>
      <p:sp>
        <p:nvSpPr>
          <p:cNvPr id="10" name="TextBox 9"/>
          <p:cNvSpPr txBox="1"/>
          <p:nvPr/>
        </p:nvSpPr>
        <p:spPr>
          <a:xfrm>
            <a:off x="640080" y="4416552"/>
            <a:ext cx="1828800" cy="256032"/>
          </a:xfrm>
          <a:prstGeom prst="rect">
            <a:avLst/>
          </a:prstGeom>
          <a:noFill/>
        </p:spPr>
        <p:txBody>
          <a:bodyPr wrap="square" lIns="36576" rIns="36576" tIns="36576" bIns="36576" anchor="ctr">
            <a:spAutoFit/>
          </a:bodyPr>
          <a:lstStyle/>
          <a:p>
            <a:r>
              <a:rPr sz="1100" b="1">
                <a:solidFill>
                  <a:srgbClr val="1A8C8C"/>
                </a:solidFill>
                <a:latin typeface="Arial"/>
              </a:rPr>
              <a:t>LESSON</a:t>
            </a:r>
          </a:p>
        </p:txBody>
      </p:sp>
      <p:sp>
        <p:nvSpPr>
          <p:cNvPr id="11" name="TextBox 10"/>
          <p:cNvSpPr txBox="1"/>
          <p:nvPr/>
        </p:nvSpPr>
        <p:spPr>
          <a:xfrm>
            <a:off x="640080" y="4736592"/>
            <a:ext cx="4892040" cy="621792"/>
          </a:xfrm>
          <a:prstGeom prst="rect">
            <a:avLst/>
          </a:prstGeom>
          <a:noFill/>
        </p:spPr>
        <p:txBody>
          <a:bodyPr wrap="square" lIns="36576" rIns="36576" tIns="36576" bIns="36576" anchor="ctr">
            <a:spAutoFit/>
          </a:bodyPr>
          <a:lstStyle/>
          <a:p>
            <a:r>
              <a:rPr sz="1600" b="1">
                <a:solidFill>
                  <a:srgbClr val="18313F"/>
                </a:solidFill>
                <a:latin typeface="Arial"/>
              </a:rPr>
              <a:t>Health probes check process and dependency health. Smoke tests check user behavior.</a:t>
            </a:r>
          </a:p>
        </p:txBody>
      </p:sp>
      <p:pic>
        <p:nvPicPr>
          <p:cNvPr id="12" name="Picture 11" descr="11-pipeline-autorollback.png"/>
          <p:cNvPicPr>
            <a:picLocks noChangeAspect="1"/>
          </p:cNvPicPr>
          <p:nvPr/>
        </p:nvPicPr>
        <p:blipFill>
          <a:blip r:embed="rId2"/>
          <a:stretch>
            <a:fillRect/>
          </a:stretch>
        </p:blipFill>
        <p:spPr>
          <a:xfrm>
            <a:off x="5904401" y="1417320"/>
            <a:ext cx="3754284" cy="4096512"/>
          </a:xfrm>
          <a:prstGeom prst="rect">
            <a:avLst/>
          </a:prstGeom>
        </p:spPr>
      </p:pic>
      <p:sp>
        <p:nvSpPr>
          <p:cNvPr id="13" name="TextBox 12"/>
          <p:cNvSpPr txBox="1"/>
          <p:nvPr/>
        </p:nvSpPr>
        <p:spPr>
          <a:xfrm>
            <a:off x="5897880" y="5527548"/>
            <a:ext cx="3767328" cy="228600"/>
          </a:xfrm>
          <a:prstGeom prst="rect">
            <a:avLst/>
          </a:prstGeom>
          <a:noFill/>
        </p:spPr>
        <p:txBody>
          <a:bodyPr wrap="square" lIns="36576" rIns="36576" tIns="36576" bIns="36576" anchor="ctr">
            <a:spAutoFit/>
          </a:bodyPr>
          <a:lstStyle/>
          <a:p>
            <a:pPr algn="ctr"/>
            <a:r>
              <a:rPr sz="1000" b="1">
                <a:solidFill>
                  <a:srgbClr val="60727C"/>
                </a:solidFill>
                <a:latin typeface="Arial"/>
              </a:rPr>
              <a:t>Captured failed release with automatic rollback</a:t>
            </a:r>
          </a:p>
        </p:txBody>
      </p:sp>
      <p:pic>
        <p:nvPicPr>
          <p:cNvPr id="14" name="Picture 13" descr="16-kubectl-pods.png"/>
          <p:cNvPicPr>
            <a:picLocks noChangeAspect="1"/>
          </p:cNvPicPr>
          <p:nvPr/>
        </p:nvPicPr>
        <p:blipFill>
          <a:blip r:embed="rId3"/>
          <a:stretch>
            <a:fillRect/>
          </a:stretch>
        </p:blipFill>
        <p:spPr>
          <a:xfrm>
            <a:off x="9829800" y="2149266"/>
            <a:ext cx="1874519" cy="355763"/>
          </a:xfrm>
          <a:prstGeom prst="rect">
            <a:avLst/>
          </a:prstGeom>
        </p:spPr>
      </p:pic>
      <p:sp>
        <p:nvSpPr>
          <p:cNvPr id="15" name="TextBox 14"/>
          <p:cNvSpPr txBox="1"/>
          <p:nvPr/>
        </p:nvSpPr>
        <p:spPr>
          <a:xfrm>
            <a:off x="9829800" y="2519172"/>
            <a:ext cx="1874519" cy="228600"/>
          </a:xfrm>
          <a:prstGeom prst="rect">
            <a:avLst/>
          </a:prstGeom>
          <a:noFill/>
        </p:spPr>
        <p:txBody>
          <a:bodyPr wrap="square" lIns="36576" rIns="36576" tIns="36576" bIns="36576" anchor="ctr">
            <a:spAutoFit/>
          </a:bodyPr>
          <a:lstStyle/>
          <a:p>
            <a:pPr algn="ctr"/>
            <a:r>
              <a:rPr sz="1000" b="1">
                <a:solidFill>
                  <a:srgbClr val="60727C"/>
                </a:solidFill>
                <a:latin typeface="Arial"/>
              </a:rPr>
              <a:t>Ready API and Redis pods</a:t>
            </a:r>
          </a:p>
        </p:txBody>
      </p:sp>
      <p:sp>
        <p:nvSpPr>
          <p:cNvPr id="16" name="TextBox 15"/>
          <p:cNvSpPr txBox="1"/>
          <p:nvPr/>
        </p:nvSpPr>
        <p:spPr>
          <a:xfrm>
            <a:off x="5897880" y="6016752"/>
            <a:ext cx="5715000" cy="438912"/>
          </a:xfrm>
          <a:prstGeom prst="rect">
            <a:avLst/>
          </a:prstGeom>
          <a:noFill/>
        </p:spPr>
        <p:txBody>
          <a:bodyPr wrap="square" lIns="36576" rIns="36576" tIns="36576" bIns="36576" anchor="ctr">
            <a:spAutoFit/>
          </a:bodyPr>
          <a:lstStyle/>
          <a:p>
            <a:r>
              <a:rPr sz="1150" b="0">
                <a:solidFill>
                  <a:srgbClr val="60727C"/>
                </a:solidFill>
                <a:latin typeface="Arial"/>
              </a:rPr>
              <a:t>Ansible runs on a supported Ubuntu 24.04 target. The first apply changed 31 items; the repeat apply changed 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75488" y="228600"/>
            <a:ext cx="11201400" cy="502920"/>
          </a:xfrm>
          <a:prstGeom prst="rect">
            <a:avLst/>
          </a:prstGeom>
          <a:noFill/>
        </p:spPr>
        <p:txBody>
          <a:bodyPr wrap="square" lIns="36576" rIns="36576" tIns="36576" bIns="36576" anchor="ctr">
            <a:spAutoFit/>
          </a:bodyPr>
          <a:lstStyle/>
          <a:p>
            <a:r>
              <a:rPr sz="2700" b="1">
                <a:solidFill>
                  <a:srgbClr val="172B3A"/>
                </a:solidFill>
                <a:latin typeface="Arial"/>
              </a:rPr>
              <a:t>The build taught us to verify releases from the user's side</a:t>
            </a:r>
          </a:p>
        </p:txBody>
      </p:sp>
      <p:sp>
        <p:nvSpPr>
          <p:cNvPr id="3" name="Rectangle 2"/>
          <p:cNvSpPr/>
          <p:nvPr/>
        </p:nvSpPr>
        <p:spPr>
          <a:xfrm>
            <a:off x="502920" y="832104"/>
            <a:ext cx="713232" cy="50292"/>
          </a:xfrm>
          <a:prstGeom prst="rect">
            <a:avLst/>
          </a:prstGeom>
          <a:solidFill>
            <a:srgbClr val="1A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93776" y="905256"/>
            <a:ext cx="11155680" cy="310896"/>
          </a:xfrm>
          <a:prstGeom prst="rect">
            <a:avLst/>
          </a:prstGeom>
          <a:noFill/>
        </p:spPr>
        <p:txBody>
          <a:bodyPr wrap="square" lIns="36576" rIns="36576" tIns="36576" bIns="36576" anchor="ctr">
            <a:spAutoFit/>
          </a:bodyPr>
          <a:lstStyle/>
          <a:p>
            <a:r>
              <a:rPr sz="1250" b="0">
                <a:solidFill>
                  <a:srgbClr val="60727C"/>
                </a:solidFill>
                <a:latin typeface="Arial"/>
              </a:rPr>
              <a:t>Results, limits, and the next improvements</a:t>
            </a:r>
          </a:p>
        </p:txBody>
      </p:sp>
      <p:sp>
        <p:nvSpPr>
          <p:cNvPr id="5" name="TextBox 4"/>
          <p:cNvSpPr txBox="1"/>
          <p:nvPr/>
        </p:nvSpPr>
        <p:spPr>
          <a:xfrm>
            <a:off x="502920" y="6519672"/>
            <a:ext cx="11064240" cy="182880"/>
          </a:xfrm>
          <a:prstGeom prst="rect">
            <a:avLst/>
          </a:prstGeom>
          <a:noFill/>
        </p:spPr>
        <p:txBody>
          <a:bodyPr wrap="square" lIns="36576" rIns="36576" tIns="36576" bIns="36576" anchor="ctr">
            <a:spAutoFit/>
          </a:bodyPr>
          <a:lstStyle/>
          <a:p>
            <a:r>
              <a:rPr sz="850" b="0">
                <a:solidFill>
                  <a:srgbClr val="60727C"/>
                </a:solidFill>
                <a:latin typeface="Arial"/>
              </a:rPr>
              <a:t>SHORTLY  /  DEVOPS CA-2                                      05</a:t>
            </a:r>
          </a:p>
        </p:txBody>
      </p:sp>
      <p:sp>
        <p:nvSpPr>
          <p:cNvPr id="6" name="TextBox 5"/>
          <p:cNvSpPr txBox="1"/>
          <p:nvPr/>
        </p:nvSpPr>
        <p:spPr>
          <a:xfrm>
            <a:off x="676656" y="1481328"/>
            <a:ext cx="438912" cy="347472"/>
          </a:xfrm>
          <a:prstGeom prst="rect">
            <a:avLst/>
          </a:prstGeom>
          <a:noFill/>
        </p:spPr>
        <p:txBody>
          <a:bodyPr wrap="square" lIns="36576" rIns="36576" tIns="36576" bIns="36576" anchor="ctr">
            <a:spAutoFit/>
          </a:bodyPr>
          <a:lstStyle/>
          <a:p>
            <a:r>
              <a:rPr sz="1300" b="1">
                <a:solidFill>
                  <a:srgbClr val="1A8C8C"/>
                </a:solidFill>
                <a:latin typeface="Arial"/>
              </a:rPr>
              <a:t>01</a:t>
            </a:r>
          </a:p>
        </p:txBody>
      </p:sp>
      <p:sp>
        <p:nvSpPr>
          <p:cNvPr id="7" name="TextBox 6"/>
          <p:cNvSpPr txBox="1"/>
          <p:nvPr/>
        </p:nvSpPr>
        <p:spPr>
          <a:xfrm>
            <a:off x="1143000" y="1481328"/>
            <a:ext cx="5852160" cy="347472"/>
          </a:xfrm>
          <a:prstGeom prst="rect">
            <a:avLst/>
          </a:prstGeom>
          <a:noFill/>
        </p:spPr>
        <p:txBody>
          <a:bodyPr wrap="square" lIns="36576" rIns="36576" tIns="36576" bIns="36576" anchor="ctr">
            <a:spAutoFit/>
          </a:bodyPr>
          <a:lstStyle/>
          <a:p>
            <a:r>
              <a:rPr sz="1500" b="1">
                <a:solidFill>
                  <a:srgbClr val="18313F"/>
                </a:solidFill>
                <a:latin typeface="Arial"/>
              </a:rPr>
              <a:t>Keep readiness and user-facing checks separate.</a:t>
            </a:r>
          </a:p>
        </p:txBody>
      </p:sp>
      <p:sp>
        <p:nvSpPr>
          <p:cNvPr id="8" name="TextBox 7"/>
          <p:cNvSpPr txBox="1"/>
          <p:nvPr/>
        </p:nvSpPr>
        <p:spPr>
          <a:xfrm>
            <a:off x="676656" y="2011680"/>
            <a:ext cx="438912" cy="347472"/>
          </a:xfrm>
          <a:prstGeom prst="rect">
            <a:avLst/>
          </a:prstGeom>
          <a:noFill/>
        </p:spPr>
        <p:txBody>
          <a:bodyPr wrap="square" lIns="36576" rIns="36576" tIns="36576" bIns="36576" anchor="ctr">
            <a:spAutoFit/>
          </a:bodyPr>
          <a:lstStyle/>
          <a:p>
            <a:r>
              <a:rPr sz="1300" b="1">
                <a:solidFill>
                  <a:srgbClr val="1A8C8C"/>
                </a:solidFill>
                <a:latin typeface="Arial"/>
              </a:rPr>
              <a:t>02</a:t>
            </a:r>
          </a:p>
        </p:txBody>
      </p:sp>
      <p:sp>
        <p:nvSpPr>
          <p:cNvPr id="9" name="TextBox 8"/>
          <p:cNvSpPr txBox="1"/>
          <p:nvPr/>
        </p:nvSpPr>
        <p:spPr>
          <a:xfrm>
            <a:off x="1143000" y="2011680"/>
            <a:ext cx="5852160" cy="347472"/>
          </a:xfrm>
          <a:prstGeom prst="rect">
            <a:avLst/>
          </a:prstGeom>
          <a:noFill/>
        </p:spPr>
        <p:txBody>
          <a:bodyPr wrap="square" lIns="36576" rIns="36576" tIns="36576" bIns="36576" anchor="ctr">
            <a:spAutoFit/>
          </a:bodyPr>
          <a:lstStyle/>
          <a:p>
            <a:r>
              <a:rPr sz="1500" b="0">
                <a:solidFill>
                  <a:srgbClr val="18313F"/>
                </a:solidFill>
                <a:latin typeface="Arial"/>
              </a:rPr>
              <a:t>Deploy the exact scanned image, then verify requests and version.</a:t>
            </a:r>
          </a:p>
        </p:txBody>
      </p:sp>
      <p:sp>
        <p:nvSpPr>
          <p:cNvPr id="10" name="TextBox 9"/>
          <p:cNvSpPr txBox="1"/>
          <p:nvPr/>
        </p:nvSpPr>
        <p:spPr>
          <a:xfrm>
            <a:off x="676656" y="2542032"/>
            <a:ext cx="438912" cy="347472"/>
          </a:xfrm>
          <a:prstGeom prst="rect">
            <a:avLst/>
          </a:prstGeom>
          <a:noFill/>
        </p:spPr>
        <p:txBody>
          <a:bodyPr wrap="square" lIns="36576" rIns="36576" tIns="36576" bIns="36576" anchor="ctr">
            <a:spAutoFit/>
          </a:bodyPr>
          <a:lstStyle/>
          <a:p>
            <a:r>
              <a:rPr sz="1300" b="1">
                <a:solidFill>
                  <a:srgbClr val="1A8C8C"/>
                </a:solidFill>
                <a:latin typeface="Arial"/>
              </a:rPr>
              <a:t>03</a:t>
            </a:r>
          </a:p>
        </p:txBody>
      </p:sp>
      <p:sp>
        <p:nvSpPr>
          <p:cNvPr id="11" name="TextBox 10"/>
          <p:cNvSpPr txBox="1"/>
          <p:nvPr/>
        </p:nvSpPr>
        <p:spPr>
          <a:xfrm>
            <a:off x="1143000" y="2542032"/>
            <a:ext cx="5852160" cy="347472"/>
          </a:xfrm>
          <a:prstGeom prst="rect">
            <a:avLst/>
          </a:prstGeom>
          <a:noFill/>
        </p:spPr>
        <p:txBody>
          <a:bodyPr wrap="square" lIns="36576" rIns="36576" tIns="36576" bIns="36576" anchor="ctr">
            <a:spAutoFit/>
          </a:bodyPr>
          <a:lstStyle/>
          <a:p>
            <a:r>
              <a:rPr sz="1500" b="0">
                <a:solidFill>
                  <a:srgbClr val="18313F"/>
                </a:solidFill>
                <a:latin typeface="Arial"/>
              </a:rPr>
              <a:t>Use observed resource needs and keep alerts tied to real traffic.</a:t>
            </a:r>
          </a:p>
        </p:txBody>
      </p:sp>
      <p:sp>
        <p:nvSpPr>
          <p:cNvPr id="12" name="TextBox 11"/>
          <p:cNvSpPr txBox="1"/>
          <p:nvPr/>
        </p:nvSpPr>
        <p:spPr>
          <a:xfrm>
            <a:off x="676656" y="3072384"/>
            <a:ext cx="438912" cy="347472"/>
          </a:xfrm>
          <a:prstGeom prst="rect">
            <a:avLst/>
          </a:prstGeom>
          <a:noFill/>
        </p:spPr>
        <p:txBody>
          <a:bodyPr wrap="square" lIns="36576" rIns="36576" tIns="36576" bIns="36576" anchor="ctr">
            <a:spAutoFit/>
          </a:bodyPr>
          <a:lstStyle/>
          <a:p>
            <a:r>
              <a:rPr sz="1300" b="1">
                <a:solidFill>
                  <a:srgbClr val="1A8C8C"/>
                </a:solidFill>
                <a:latin typeface="Arial"/>
              </a:rPr>
              <a:t>04</a:t>
            </a:r>
          </a:p>
        </p:txBody>
      </p:sp>
      <p:sp>
        <p:nvSpPr>
          <p:cNvPr id="13" name="TextBox 12"/>
          <p:cNvSpPr txBox="1"/>
          <p:nvPr/>
        </p:nvSpPr>
        <p:spPr>
          <a:xfrm>
            <a:off x="1143000" y="3072384"/>
            <a:ext cx="5852160" cy="347472"/>
          </a:xfrm>
          <a:prstGeom prst="rect">
            <a:avLst/>
          </a:prstGeom>
          <a:noFill/>
        </p:spPr>
        <p:txBody>
          <a:bodyPr wrap="square" lIns="36576" rIns="36576" tIns="36576" bIns="36576" anchor="ctr">
            <a:spAutoFit/>
          </a:bodyPr>
          <a:lstStyle/>
          <a:p>
            <a:r>
              <a:rPr sz="1500" b="0">
                <a:solidFill>
                  <a:srgbClr val="18313F"/>
                </a:solidFill>
                <a:latin typeface="Arial"/>
              </a:rPr>
              <a:t>Run configuration management on a supported, repeatable host.</a:t>
            </a:r>
          </a:p>
        </p:txBody>
      </p:sp>
      <p:sp>
        <p:nvSpPr>
          <p:cNvPr id="14" name="Rounded Rectangle 13"/>
          <p:cNvSpPr/>
          <p:nvPr/>
        </p:nvSpPr>
        <p:spPr>
          <a:xfrm>
            <a:off x="7360920" y="1527048"/>
            <a:ext cx="4160520" cy="640080"/>
          </a:xfrm>
          <a:prstGeom prst="roundRect">
            <a:avLst/>
          </a:prstGeom>
          <a:solidFill>
            <a:srgbClr val="EEF4F5"/>
          </a:solidFill>
          <a:ln w="12700">
            <a:solidFill>
              <a:srgbClr val="1A8C8C"/>
            </a:solidFill>
          </a:ln>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r>
              <a:rPr sz="1400" b="1">
                <a:solidFill>
                  <a:srgbClr val="18313F"/>
                </a:solidFill>
                <a:latin typeface="Arial"/>
              </a:rPr>
              <a:t>8 of 9 scenarios passed in the saved full run</a:t>
            </a:r>
          </a:p>
        </p:txBody>
      </p:sp>
      <p:sp>
        <p:nvSpPr>
          <p:cNvPr id="15" name="TextBox 14"/>
          <p:cNvSpPr txBox="1"/>
          <p:nvPr/>
        </p:nvSpPr>
        <p:spPr>
          <a:xfrm>
            <a:off x="7434072" y="2340864"/>
            <a:ext cx="3995928" cy="685800"/>
          </a:xfrm>
          <a:prstGeom prst="rect">
            <a:avLst/>
          </a:prstGeom>
          <a:noFill/>
        </p:spPr>
        <p:txBody>
          <a:bodyPr wrap="square" lIns="36576" rIns="36576" tIns="36576" bIns="36576" anchor="ctr">
            <a:spAutoFit/>
          </a:bodyPr>
          <a:lstStyle/>
          <a:p>
            <a:r>
              <a:rPr sz="1250" b="0">
                <a:solidFill>
                  <a:srgbClr val="60727C"/>
                </a:solidFill>
                <a:latin typeface="Arial"/>
              </a:rPr>
              <a:t>The focused abuse rerun later passed. The full suite was not rerun, so the original 8/9 result remains the reported full-run outcome.</a:t>
            </a:r>
          </a:p>
        </p:txBody>
      </p:sp>
      <p:pic>
        <p:nvPicPr>
          <p:cNvPr id="16" name="Picture 15" descr="14-runner-online.png"/>
          <p:cNvPicPr>
            <a:picLocks noChangeAspect="1"/>
          </p:cNvPicPr>
          <p:nvPr/>
        </p:nvPicPr>
        <p:blipFill>
          <a:blip r:embed="rId2"/>
          <a:stretch>
            <a:fillRect/>
          </a:stretch>
        </p:blipFill>
        <p:spPr>
          <a:xfrm>
            <a:off x="1275712" y="3913632"/>
            <a:ext cx="3163575" cy="2057400"/>
          </a:xfrm>
          <a:prstGeom prst="rect">
            <a:avLst/>
          </a:prstGeom>
        </p:spPr>
      </p:pic>
      <p:sp>
        <p:nvSpPr>
          <p:cNvPr id="17" name="TextBox 16"/>
          <p:cNvSpPr txBox="1"/>
          <p:nvPr/>
        </p:nvSpPr>
        <p:spPr>
          <a:xfrm>
            <a:off x="1234440" y="5984748"/>
            <a:ext cx="3246120" cy="228600"/>
          </a:xfrm>
          <a:prstGeom prst="rect">
            <a:avLst/>
          </a:prstGeom>
          <a:noFill/>
        </p:spPr>
        <p:txBody>
          <a:bodyPr wrap="square" lIns="36576" rIns="36576" tIns="36576" bIns="36576" anchor="ctr">
            <a:spAutoFit/>
          </a:bodyPr>
          <a:lstStyle/>
          <a:p>
            <a:pPr algn="ctr"/>
            <a:r>
              <a:rPr sz="1000" b="1">
                <a:solidFill>
                  <a:srgbClr val="60727C"/>
                </a:solidFill>
                <a:latin typeface="Arial"/>
              </a:rPr>
              <a:t>Self-hosted deployment runner</a:t>
            </a:r>
          </a:p>
        </p:txBody>
      </p:sp>
      <p:pic>
        <p:nvPicPr>
          <p:cNvPr id="18" name="Picture 17" descr="15-environments.png"/>
          <p:cNvPicPr>
            <a:picLocks noChangeAspect="1"/>
          </p:cNvPicPr>
          <p:nvPr/>
        </p:nvPicPr>
        <p:blipFill>
          <a:blip r:embed="rId3"/>
          <a:stretch>
            <a:fillRect/>
          </a:stretch>
        </p:blipFill>
        <p:spPr>
          <a:xfrm>
            <a:off x="6944992" y="3913632"/>
            <a:ext cx="3163575" cy="2057400"/>
          </a:xfrm>
          <a:prstGeom prst="rect">
            <a:avLst/>
          </a:prstGeom>
        </p:spPr>
      </p:pic>
      <p:sp>
        <p:nvSpPr>
          <p:cNvPr id="19" name="TextBox 18"/>
          <p:cNvSpPr txBox="1"/>
          <p:nvPr/>
        </p:nvSpPr>
        <p:spPr>
          <a:xfrm>
            <a:off x="6903720" y="5984748"/>
            <a:ext cx="3246120" cy="228600"/>
          </a:xfrm>
          <a:prstGeom prst="rect">
            <a:avLst/>
          </a:prstGeom>
          <a:noFill/>
        </p:spPr>
        <p:txBody>
          <a:bodyPr wrap="square" lIns="36576" rIns="36576" tIns="36576" bIns="36576" anchor="ctr">
            <a:spAutoFit/>
          </a:bodyPr>
          <a:lstStyle/>
          <a:p>
            <a:pPr algn="ctr"/>
            <a:r>
              <a:rPr sz="1000" b="1">
                <a:solidFill>
                  <a:srgbClr val="60727C"/>
                </a:solidFill>
                <a:latin typeface="Arial"/>
              </a:rPr>
              <a:t>GitHub environment configured for local Minikube</a:t>
            </a:r>
          </a:p>
        </p:txBody>
      </p:sp>
      <p:sp>
        <p:nvSpPr>
          <p:cNvPr id="20" name="TextBox 19"/>
          <p:cNvSpPr txBox="1"/>
          <p:nvPr/>
        </p:nvSpPr>
        <p:spPr>
          <a:xfrm>
            <a:off x="713232" y="6199632"/>
            <a:ext cx="10881360" cy="210312"/>
          </a:xfrm>
          <a:prstGeom prst="rect">
            <a:avLst/>
          </a:prstGeom>
          <a:noFill/>
        </p:spPr>
        <p:txBody>
          <a:bodyPr wrap="square" lIns="36576" rIns="36576" tIns="36576" bIns="36576" anchor="ctr">
            <a:spAutoFit/>
          </a:bodyPr>
          <a:lstStyle/>
          <a:p>
            <a:pPr algn="ctr"/>
            <a:r>
              <a:rPr sz="1100" b="1">
                <a:solidFill>
                  <a:srgbClr val="60727C"/>
                </a:solidFill>
                <a:latin typeface="Arial"/>
              </a:rPr>
              <a:t>Next: repeat on a multi-node cluster, add a real alert receiver, and isolate the deployment runner.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Shortly DevOps CA-2</dc:title>
  <dc:subject>Architecture, deployment pipeline, monitoring, challenges, and lessons learned</dc:subject>
  <dc:creator>Harsh Ledwani, Shivam Kapure, Kashyup Gaud, Kisna Kanti</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